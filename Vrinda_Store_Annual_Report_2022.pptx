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1.82</c:v>
                </c:pt>
                <c:pt idx="1">
                  <c:v>1.88</c:v>
                </c:pt>
                <c:pt idx="2">
                  <c:v>1.93</c:v>
                </c:pt>
                <c:pt idx="3">
                  <c:v>1.77</c:v>
                </c:pt>
                <c:pt idx="4">
                  <c:v>1.77</c:v>
                </c:pt>
                <c:pt idx="5">
                  <c:v>1.77</c:v>
                </c:pt>
                <c:pt idx="6">
                  <c:v>1.8</c:v>
                </c:pt>
                <c:pt idx="7">
                  <c:v>1.77</c:v>
                </c:pt>
                <c:pt idx="8">
                  <c:v>1.65</c:v>
                </c:pt>
                <c:pt idx="9">
                  <c:v>1.64</c:v>
                </c:pt>
                <c:pt idx="10">
                  <c:v>1.62</c:v>
                </c:pt>
                <c:pt idx="11">
                  <c:v>1.61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Orders (00s)</c:v>
                </c:pt>
              </c:strCache>
            </c:strRef>
          </c:tx>
          <c:spPr>
            <a:solidFill>
              <a:srgbClr val="6D2E46"/>
            </a:solidFill>
            <a:ln w="38100" cap="flat">
              <a:solidFill>
                <a:srgbClr val="6D2E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27.5</c:v>
                </c:pt>
                <c:pt idx="1">
                  <c:v>25.4</c:v>
                </c:pt>
                <c:pt idx="2">
                  <c:v>28</c:v>
                </c:pt>
                <c:pt idx="3">
                  <c:v>25.2</c:v>
                </c:pt>
                <c:pt idx="4">
                  <c:v>23.8</c:v>
                </c:pt>
                <c:pt idx="5">
                  <c:v>22.6</c:v>
                </c:pt>
                <c:pt idx="6">
                  <c:v>23.6</c:v>
                </c:pt>
                <c:pt idx="7">
                  <c:v>22.6</c:v>
                </c:pt>
                <c:pt idx="8">
                  <c:v>22</c:v>
                </c:pt>
                <c:pt idx="9">
                  <c:v>23.4</c:v>
                </c:pt>
                <c:pt idx="10">
                  <c:v>22.6</c:v>
                </c:pt>
                <c:pt idx="11">
                  <c:v>22.2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1A2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1A23"/>
                </a:solidFill>
                <a:latin typeface="Arial"/>
              </a:rPr>
              <a:t>Gender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Women</c:v>
                </c:pt>
                <c:pt idx="1">
                  <c:v>Men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1A2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1A23"/>
                </a:solidFill>
                <a:latin typeface="Arial"/>
              </a:rPr>
              <a:t>Age Group vs Gender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1A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Adult</c:v>
                  </c:pt>
                  <c:pt idx="1">
                    <c:v>Senior</c:v>
                  </c:pt>
                  <c:pt idx="2">
                    <c:v>Teenager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15.47</c:v>
                </c:pt>
                <c:pt idx="1">
                  <c:v>5.91</c:v>
                </c:pt>
                <c:pt idx="2">
                  <c:v>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1A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Adult</c:v>
                  </c:pt>
                  <c:pt idx="1">
                    <c:v>Senior</c:v>
                  </c:pt>
                  <c:pt idx="2">
                    <c:v>Teenager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34.59</c:v>
                </c:pt>
                <c:pt idx="1">
                  <c:v>13.7</c:v>
                </c:pt>
                <c:pt idx="2">
                  <c:v>21.13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1A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1A2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1A23"/>
                </a:solidFill>
                <a:latin typeface="Arial"/>
              </a:rPr>
              <a:t>Top 5 States by Revenue (₹M)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1A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Karnataka</c:v>
                  </c:pt>
                  <c:pt idx="1">
                    <c:v>Maharashtra</c:v>
                  </c:pt>
                  <c:pt idx="2">
                    <c:v>Tamil Nadu</c:v>
                  </c:pt>
                  <c:pt idx="3">
                    <c:v>Telangana</c:v>
                  </c:pt>
                  <c:pt idx="4">
                    <c:v>Uttar Pradesh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2.65</c:v>
                </c:pt>
                <c:pt idx="1">
                  <c:v>2.99</c:v>
                </c:pt>
                <c:pt idx="2">
                  <c:v>1.68</c:v>
                </c:pt>
                <c:pt idx="3">
                  <c:v>1.71</c:v>
                </c:pt>
                <c:pt idx="4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C1A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1A2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1A23"/>
                </a:solidFill>
                <a:latin typeface="Arial"/>
              </a:rPr>
              <a:t>Sales by Channel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bubble3D val="0"/>
            <c:spPr>
              <a:solidFill>
                <a:srgbClr val="C4526E"/>
              </a:solidFill>
              <a:effectLst/>
            </c:spPr>
          </c:dPt>
          <c:dPt>
            <c:idx val="3"/>
            <c:bubble3D val="0"/>
            <c:spPr>
              <a:solidFill>
                <a:srgbClr val="D48C9A"/>
              </a:solidFill>
              <a:effectLst/>
            </c:spPr>
          </c:dPt>
          <c:dPt>
            <c:idx val="4"/>
            <c:bubble3D val="0"/>
            <c:spPr>
              <a:solidFill>
                <a:srgbClr val="E8B4BE"/>
              </a:solidFill>
              <a:effectLst/>
            </c:spPr>
          </c:dPt>
          <c:dPt>
            <c:idx val="5"/>
            <c:bubble3D val="0"/>
            <c:spPr>
              <a:solidFill>
                <a:srgbClr val="8A5A6A"/>
              </a:solidFill>
              <a:effectLst/>
            </c:spPr>
          </c:dPt>
          <c:dPt>
            <c:idx val="6"/>
            <c:bubble3D val="0"/>
            <c:spPr>
              <a:solidFill>
                <a:srgbClr val="D4B8B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Amazon</c:v>
                </c:pt>
                <c:pt idx="1">
                  <c:v>Flipkart</c:v>
                </c:pt>
                <c:pt idx="2">
                  <c:v>Myntra</c:v>
                </c:pt>
                <c:pt idx="3">
                  <c:v>Meesho</c:v>
                </c:pt>
                <c:pt idx="4">
                  <c:v>Nalli</c:v>
                </c:pt>
                <c:pt idx="5">
                  <c:v>Ajio</c:v>
                </c:pt>
                <c:pt idx="6">
                  <c:v>Others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35</c:v>
                </c:pt>
                <c:pt idx="1">
                  <c:v>22</c:v>
                </c:pt>
                <c:pt idx="2">
                  <c:v>23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C4526E">
              <a:alpha val="25000"/>
            </a:srgbClr>
          </a:solidFill>
          <a:ln w="12700">
            <a:solidFill>
              <a:srgbClr val="C4526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A26769">
              <a:alpha val="30000"/>
            </a:srgbClr>
          </a:solidFill>
          <a:ln w="12700">
            <a:solidFill>
              <a:srgbClr val="A2676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914400"/>
            <a:ext cx="2560320" cy="347472"/>
          </a:xfrm>
          <a:prstGeom prst="roundRect">
            <a:avLst>
              <a:gd name="adj" fmla="val 39474"/>
            </a:avLst>
          </a:prstGeom>
          <a:solidFill>
            <a:srgbClr val="C4526E">
              <a:alpha val="60000"/>
            </a:srgbClr>
          </a:solidFill>
          <a:ln w="12700">
            <a:solidFill>
              <a:srgbClr val="C4526E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EEE8"/>
                </a:solidFill>
              </a:rPr>
              <a:t>ANNUAL REPORT 2022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630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Vrinda Store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DDD8"/>
                </a:solidFill>
              </a:rPr>
              <a:t>Fashion, Sales &amp; Growth — Data-Driven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3931920"/>
            <a:ext cx="2743200" cy="2743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5A6A"/>
                </a:solidFill>
              </a:rPr>
              <a:t>Prepared by: Madhan  |  Data Analytics Portfolio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05840"/>
          </a:xfrm>
          <a:prstGeom prst="rect">
            <a:avLst/>
          </a:prstGeom>
          <a:solidFill>
            <a:srgbClr val="F5EEE8"/>
          </a:solidFill>
          <a:ln w="12700">
            <a:solidFill>
              <a:srgbClr val="F5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164592"/>
            <a:ext cx="658368" cy="6583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Overview — Monthly Revenue &amp; Order Trends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5852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6A"/>
                </a:solidFill>
              </a:rPr>
              <a:t>Vrinda Store 2022  |  For Stakeholder Review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" y="1051560"/>
            <a:ext cx="2743200" cy="8046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March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56032" y="1435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DD8"/>
                </a:solidFill>
              </a:rPr>
              <a:t>Peak Month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1627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D8"/>
                </a:solidFill>
              </a:rPr>
              <a:t>₹1.93M — highest revenue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63824" y="1051560"/>
            <a:ext cx="2743200" cy="8046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163824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~31K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163824" y="1435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DD8"/>
                </a:solidFill>
              </a:rPr>
              <a:t>Full-Year Orders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63824" y="1627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D8"/>
                </a:solidFill>
              </a:rPr>
              <a:t>Across all channels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71616" y="1051560"/>
            <a:ext cx="2743200" cy="8046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71616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↓ Apr–Dec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71616" y="1435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DDD8"/>
                </a:solidFill>
              </a:rPr>
              <a:t>H2 Trend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71616" y="1627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D8"/>
                </a:solidFill>
              </a:rPr>
              <a:t>No festive recovery observed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1920240"/>
            <a:ext cx="8686800" cy="457200"/>
          </a:xfrm>
          <a:prstGeom prst="rect">
            <a:avLst/>
          </a:prstGeom>
          <a:solidFill>
            <a:srgbClr val="FFF4F0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8600" y="1920240"/>
            <a:ext cx="64008" cy="457200"/>
          </a:xfrm>
          <a:prstGeom prst="rect">
            <a:avLst/>
          </a:prstGeom>
          <a:solidFill>
            <a:srgbClr val="C4526E"/>
          </a:solidFill>
          <a:ln w="12700">
            <a:solidFill>
              <a:srgbClr val="C452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" y="19385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</a:rPr>
              <a:t>What this chart shows:  </a:t>
            </a:r>
            <a:pPr indent="0" marL="0">
              <a:buNone/>
            </a:pPr>
            <a:r>
              <a:rPr lang="en-US" sz="1100" dirty="0">
                <a:solidFill>
                  <a:srgbClr val="2C1A23"/>
                </a:solidFill>
              </a:rPr>
              <a:t>Revenue (bars) and order count (line) both peaked in Feb–Mar, driven by India's wedding season. Steady decline from April onward signals weak festive-quarter recovery — a key action area for 2023.</a:t>
            </a:r>
            <a:endParaRPr lang="en-US" sz="11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228600" y="2432304"/>
          <a:ext cx="8686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228600" y="4498848"/>
            <a:ext cx="8686800" cy="713232"/>
          </a:xfrm>
          <a:prstGeom prst="rect">
            <a:avLst/>
          </a:prstGeom>
          <a:solidFill>
            <a:srgbClr val="F5EEE8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28600" y="4498848"/>
            <a:ext cx="64008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2336" y="4553712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</a:rPr>
              <a:t>Key Insight:  </a:t>
            </a:r>
            <a:pPr indent="0" marL="0">
              <a:buNone/>
            </a:pPr>
            <a:r>
              <a:rPr lang="en-US" sz="1150" i="1" dirty="0">
                <a:solidFill>
                  <a:srgbClr val="2C1A23"/>
                </a:solidFill>
              </a:rPr>
              <a:t>Sales and orders peaked in Feb–March (wedding season). No meaningful festive recovery in Oct–Dec signals a promotional strategy gap. Recommend launching Navratri &amp; Diwali campaigns 6 weeks in advance for 2023.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05840"/>
          </a:xfrm>
          <a:prstGeom prst="rect">
            <a:avLst/>
          </a:prstGeom>
          <a:solidFill>
            <a:srgbClr val="F5EEE8"/>
          </a:solidFill>
          <a:ln w="12700">
            <a:solidFill>
              <a:srgbClr val="F5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164592"/>
            <a:ext cx="658368" cy="6583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Demographics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5852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6A"/>
                </a:solidFill>
              </a:rPr>
              <a:t>Who buys from Vrinda Store? Gender, age group &amp; cohort insights  |  For Stakeholder Review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060704"/>
            <a:ext cx="4160520" cy="640080"/>
          </a:xfrm>
          <a:prstGeom prst="rect">
            <a:avLst/>
          </a:prstGeom>
          <a:solidFill>
            <a:srgbClr val="FFF4F0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1060704"/>
            <a:ext cx="64008" cy="640080"/>
          </a:xfrm>
          <a:prstGeom prst="rect">
            <a:avLst/>
          </a:prstGeom>
          <a:solidFill>
            <a:srgbClr val="C4526E"/>
          </a:solidFill>
          <a:ln w="12700">
            <a:solidFill>
              <a:srgbClr val="C452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078992"/>
            <a:ext cx="38770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</a:rPr>
              <a:t>Context:  </a:t>
            </a:r>
            <a:pPr indent="0" marL="0">
              <a:buNone/>
            </a:pPr>
            <a:r>
              <a:rPr lang="en-US" sz="1100" dirty="0">
                <a:solidFill>
                  <a:srgbClr val="2C1A23"/>
                </a:solidFill>
              </a:rPr>
              <a:t>64% of purchases are made by women. Adult women alone account for 34.6% of total orders — the single most valuable customer segment.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060704"/>
            <a:ext cx="4343400" cy="640080"/>
          </a:xfrm>
          <a:prstGeom prst="rect">
            <a:avLst/>
          </a:prstGeom>
          <a:solidFill>
            <a:srgbClr val="FFF4F0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060704"/>
            <a:ext cx="64008" cy="640080"/>
          </a:xfrm>
          <a:prstGeom prst="rect">
            <a:avLst/>
          </a:prstGeom>
          <a:solidFill>
            <a:srgbClr val="C4526E"/>
          </a:solidFill>
          <a:ln w="12700">
            <a:solidFill>
              <a:srgbClr val="C452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45736" y="1078992"/>
            <a:ext cx="40599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</a:rPr>
              <a:t>Opportunity:  </a:t>
            </a:r>
            <a:pPr indent="0" marL="0">
              <a:buNone/>
            </a:pPr>
            <a:r>
              <a:rPr lang="en-US" sz="1100" dirty="0">
                <a:solidFill>
                  <a:srgbClr val="2C1A23"/>
                </a:solidFill>
              </a:rPr>
              <a:t>Teenage women (21.1%) are under-served. A dedicated Instagram Reels &amp; Meesho campaign can unlock significant incremental revenue from this cohort.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82880" y="1764792"/>
          <a:ext cx="42062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4572000" y="1764792"/>
          <a:ext cx="4343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Shape 11"/>
          <p:cNvSpPr/>
          <p:nvPr/>
        </p:nvSpPr>
        <p:spPr>
          <a:xfrm>
            <a:off x="228600" y="4608576"/>
            <a:ext cx="8686800" cy="713232"/>
          </a:xfrm>
          <a:prstGeom prst="rect">
            <a:avLst/>
          </a:prstGeom>
          <a:solidFill>
            <a:srgbClr val="F5EEE8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28600" y="4608576"/>
            <a:ext cx="64008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02336" y="4663440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</a:rPr>
              <a:t>Key Insight:  </a:t>
            </a:r>
            <a:pPr indent="0" marL="0">
              <a:buNone/>
            </a:pPr>
            <a:r>
              <a:rPr lang="en-US" sz="1150" i="1" dirty="0">
                <a:solidFill>
                  <a:srgbClr val="2C1A23"/>
                </a:solidFill>
              </a:rPr>
              <a:t>Adult women (34.6%) are the highest-value segment — prioritise loyalty rewards &amp; exclusive style drops. Teenage women (21%) are under-served — recommend a dedicated Instagram Reels and Meesho campaign targeting this cohort.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05840"/>
          </a:xfrm>
          <a:prstGeom prst="rect">
            <a:avLst/>
          </a:prstGeom>
          <a:solidFill>
            <a:srgbClr val="F5EEE8"/>
          </a:solidFill>
          <a:ln w="12700">
            <a:solidFill>
              <a:srgbClr val="F5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164592"/>
            <a:ext cx="658368" cy="6583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Geography &amp; Channel Performance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5852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6A"/>
                </a:solidFill>
              </a:rPr>
              <a:t>Top 5 states by revenue and sales platform breakdown  |  For Stakeholder Review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8600" y="1060704"/>
            <a:ext cx="4709160" cy="640080"/>
          </a:xfrm>
          <a:prstGeom prst="rect">
            <a:avLst/>
          </a:prstGeom>
          <a:solidFill>
            <a:srgbClr val="FFF4F0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1060704"/>
            <a:ext cx="64008" cy="640080"/>
          </a:xfrm>
          <a:prstGeom prst="rect">
            <a:avLst/>
          </a:prstGeom>
          <a:solidFill>
            <a:srgbClr val="C4526E"/>
          </a:solidFill>
          <a:ln w="12700">
            <a:solidFill>
              <a:srgbClr val="C452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078992"/>
            <a:ext cx="4425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</a:rPr>
              <a:t>Geography:  </a:t>
            </a:r>
            <a:pPr indent="0" marL="0">
              <a:buNone/>
            </a:pPr>
            <a:r>
              <a:rPr lang="en-US" sz="1100" dirty="0">
                <a:solidFill>
                  <a:srgbClr val="2C1A23"/>
                </a:solidFill>
              </a:rPr>
              <a:t>Maharashtra (₹2.99M) &amp; Karnataka (₹2.65M) lead on metro demand. Uttar Pradesh (₹2.10M) significantly underperforms vs its population — a large untapped opportunity.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1060704"/>
            <a:ext cx="3886200" cy="640080"/>
          </a:xfrm>
          <a:prstGeom prst="rect">
            <a:avLst/>
          </a:prstGeom>
          <a:solidFill>
            <a:srgbClr val="FFF4F0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0" y="1060704"/>
            <a:ext cx="64008" cy="640080"/>
          </a:xfrm>
          <a:prstGeom prst="rect">
            <a:avLst/>
          </a:prstGeom>
          <a:solidFill>
            <a:srgbClr val="C4526E"/>
          </a:solidFill>
          <a:ln w="12700">
            <a:solidFill>
              <a:srgbClr val="C452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02936" y="1078992"/>
            <a:ext cx="36027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</a:rPr>
              <a:t>Channels:  </a:t>
            </a:r>
            <a:pPr indent="0" marL="0">
              <a:buNone/>
            </a:pPr>
            <a:r>
              <a:rPr lang="en-US" sz="1100" dirty="0">
                <a:solidFill>
                  <a:srgbClr val="2C1A23"/>
                </a:solidFill>
              </a:rPr>
              <a:t>Amazon holds 35% — an over-reliance risk. Myntra (23%) and Flipkart (22%) are strong secondary channels. Meesho (5%) is under-utilised for tier-2/3 cities.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28600" y="1764792"/>
          <a:ext cx="4709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5029200" y="1764792"/>
          <a:ext cx="3886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Shape 11"/>
          <p:cNvSpPr/>
          <p:nvPr/>
        </p:nvSpPr>
        <p:spPr>
          <a:xfrm>
            <a:off x="228600" y="4572000"/>
            <a:ext cx="8686800" cy="713232"/>
          </a:xfrm>
          <a:prstGeom prst="rect">
            <a:avLst/>
          </a:prstGeom>
          <a:solidFill>
            <a:srgbClr val="F5EEE8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28600" y="4572000"/>
            <a:ext cx="64008" cy="7132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02336" y="4626864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</a:rPr>
              <a:t>Key Insight:  </a:t>
            </a:r>
            <a:pPr indent="0" marL="0">
              <a:buNone/>
            </a:pPr>
            <a:r>
              <a:rPr lang="en-US" sz="1150" i="1" dirty="0">
                <a:solidFill>
                  <a:srgbClr val="2C1A23"/>
                </a:solidFill>
              </a:rPr>
              <a:t>Amazon's 35% channel dominance is a business risk — any platform policy change directly impacts revenue. Recommend scaling Meesho for tier-2/3 reach and investing in Hindi-language ads in Uttar Pradesh to unlock its underperforming market.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4526E">
              <a:alpha val="20000"/>
            </a:srgbClr>
          </a:solidFill>
          <a:ln w="12700">
            <a:solidFill>
              <a:srgbClr val="C4526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A26769">
              <a:alpha val="25000"/>
            </a:srgbClr>
          </a:solidFill>
          <a:ln w="12700">
            <a:solidFill>
              <a:srgbClr val="A2676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C4526E">
              <a:alpha val="60000"/>
            </a:srgbClr>
          </a:solidFill>
          <a:ln w="12700">
            <a:solidFill>
              <a:srgbClr val="C4526E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7432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011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Next Steps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188720" y="795528"/>
            <a:ext cx="4572000" cy="2743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2C1A23">
              <a:alpha val="70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DD8"/>
                </a:solidFill>
              </a:rPr>
              <a:t>🎯  Festive Campaigns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148132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EEE8"/>
                </a:solidFill>
              </a:rPr>
              <a:t>Launch Oct–Nov offers 6 weeks before Navratri &amp; Diwali to reverse the H2 revenue decline.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2C1A23">
              <a:alpha val="70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10128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DD8"/>
                </a:solidFill>
              </a:rPr>
              <a:t>📱  Teen-Focused Social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10128" y="148132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EEE8"/>
                </a:solidFill>
              </a:rPr>
              <a:t>Run Instagram Reels targeting teenage women (21% of orders) with kurta styling content.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1005840"/>
            <a:ext cx="2743200" cy="1554480"/>
          </a:xfrm>
          <a:prstGeom prst="rect">
            <a:avLst/>
          </a:prstGeom>
          <a:solidFill>
            <a:srgbClr val="2C1A23">
              <a:alpha val="70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36208" y="1115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DD8"/>
                </a:solidFill>
              </a:rPr>
              <a:t>📦  Reduce Returns (8%)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36208" y="148132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EEE8"/>
                </a:solidFill>
              </a:rPr>
              <a:t>Audit top-returned SKUs and improve size charts &amp; product images to protect net revenue.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743200"/>
            <a:ext cx="2743200" cy="1554480"/>
          </a:xfrm>
          <a:prstGeom prst="rect">
            <a:avLst/>
          </a:prstGeom>
          <a:solidFill>
            <a:srgbClr val="2C1A23">
              <a:alpha val="70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4048" y="28529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DD8"/>
                </a:solidFill>
              </a:rPr>
              <a:t>🗺️  Expand in UP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4048" y="321868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EEE8"/>
                </a:solidFill>
              </a:rPr>
              <a:t>Uttar Pradesh is underperforming vs its population. Invest in Hindi-language ads &amp; faster delivery.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0" y="2743200"/>
            <a:ext cx="2743200" cy="1554480"/>
          </a:xfrm>
          <a:prstGeom prst="rect">
            <a:avLst/>
          </a:prstGeom>
          <a:solidFill>
            <a:srgbClr val="2C1A23">
              <a:alpha val="70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310128" y="28529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DD8"/>
                </a:solidFill>
              </a:rPr>
              <a:t>🛒  Diversify Channels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10128" y="321868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EEE8"/>
                </a:solidFill>
              </a:rPr>
              <a:t>Scale Meesho for tier-2/3 cities to reduce over-reliance on Amazon (35% single-channel risk).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26480" y="2743200"/>
            <a:ext cx="2743200" cy="1554480"/>
          </a:xfrm>
          <a:prstGeom prst="rect">
            <a:avLst/>
          </a:prstGeom>
          <a:solidFill>
            <a:srgbClr val="2C1A23">
              <a:alpha val="70000"/>
            </a:srgbClr>
          </a:solidFill>
          <a:ln w="12700">
            <a:solidFill>
              <a:srgbClr val="A2676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236208" y="28529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DD8"/>
                </a:solidFill>
              </a:rPr>
              <a:t>💎  Loyalty Programme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36208" y="3218688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5EEE8"/>
                </a:solidFill>
              </a:rPr>
              <a:t>Reward repeat adult women buyers — top cohort. Even 10% lift in repeats moves annual revenue.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5A6A"/>
                </a:solidFill>
              </a:rPr>
              <a:t>Vrinda Store  |  Annual Report 2022  |  Data Analytics Portfolio — Madhan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Vrinda Store Annual Report 2022</dc:title>
  <dc:subject>PptxGenJS Presentation</dc:subject>
  <dc:creator>PptxGenJS</dc:creator>
  <cp:lastModifiedBy>PptxGenJS</cp:lastModifiedBy>
  <cp:revision>1</cp:revision>
  <dcterms:created xsi:type="dcterms:W3CDTF">2026-05-24T05:01:32Z</dcterms:created>
  <dcterms:modified xsi:type="dcterms:W3CDTF">2026-05-24T05:01:32Z</dcterms:modified>
</cp:coreProperties>
</file>